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7AED92-9A6F-46E1-88A0-97189F672D38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5142AE8A-779C-479F-8D07-D26B8E7C2302}">
      <dgm:prSet/>
      <dgm:spPr/>
      <dgm:t>
        <a:bodyPr/>
        <a:lstStyle/>
        <a:p>
          <a:r>
            <a:rPr lang="tr-TR" dirty="0"/>
            <a:t>Günümüzde yazılım sistemleri giderek daha karmaşık hale gelmiştir. Büyük ölçekli uygulamalar geliştirmek, sadece kod yazmayı değil; mimari tasarım, güvenlik, performans ve sürdürülebilirlik gibi birçok faktörü de dikkate almayı gerektirir. Bu noktada geliştiricilerin işini kolaylaştıran en önemli yapılardan biri </a:t>
          </a:r>
          <a:r>
            <a:rPr lang="tr-TR" b="1" dirty="0"/>
            <a:t>framework</a:t>
          </a:r>
          <a:r>
            <a:rPr lang="tr-TR" dirty="0"/>
            <a:t> kavramıdır.</a:t>
          </a:r>
          <a:endParaRPr lang="en-US" dirty="0"/>
        </a:p>
      </dgm:t>
    </dgm:pt>
    <dgm:pt modelId="{F7C5B0B4-4173-4141-8A0D-2D8A364C0CC2}" type="parTrans" cxnId="{56F65FEA-462C-49CD-9CF4-93515945EE8C}">
      <dgm:prSet/>
      <dgm:spPr/>
      <dgm:t>
        <a:bodyPr/>
        <a:lstStyle/>
        <a:p>
          <a:endParaRPr lang="en-US"/>
        </a:p>
      </dgm:t>
    </dgm:pt>
    <dgm:pt modelId="{F7938357-67AF-4971-8442-74E1DCA4065C}" type="sibTrans" cxnId="{56F65FEA-462C-49CD-9CF4-93515945EE8C}">
      <dgm:prSet/>
      <dgm:spPr/>
      <dgm:t>
        <a:bodyPr/>
        <a:lstStyle/>
        <a:p>
          <a:endParaRPr lang="en-US"/>
        </a:p>
      </dgm:t>
    </dgm:pt>
    <dgm:pt modelId="{6CB7F03E-4B65-4845-9430-DDBE1C7BAD04}">
      <dgm:prSet/>
      <dgm:spPr/>
      <dgm:t>
        <a:bodyPr/>
        <a:lstStyle/>
        <a:p>
          <a:r>
            <a:rPr lang="tr-TR"/>
            <a:t>Framework’ler, yazılım geliştirme sürecini hızlandıran, belirli kurallar çerçevesinde çalışan ve geliştiriciye hazır bir yapı sunan sistemlerdir.</a:t>
          </a:r>
          <a:endParaRPr lang="en-US"/>
        </a:p>
      </dgm:t>
    </dgm:pt>
    <dgm:pt modelId="{657B10DA-92DD-4335-A23E-3E80A6A9206F}" type="parTrans" cxnId="{90239E6E-C289-4C8D-9759-601C57692E85}">
      <dgm:prSet/>
      <dgm:spPr/>
      <dgm:t>
        <a:bodyPr/>
        <a:lstStyle/>
        <a:p>
          <a:endParaRPr lang="en-US"/>
        </a:p>
      </dgm:t>
    </dgm:pt>
    <dgm:pt modelId="{50142E94-B63C-4C09-A0A3-A96BCC649A38}" type="sibTrans" cxnId="{90239E6E-C289-4C8D-9759-601C57692E85}">
      <dgm:prSet/>
      <dgm:spPr/>
      <dgm:t>
        <a:bodyPr/>
        <a:lstStyle/>
        <a:p>
          <a:endParaRPr lang="en-US"/>
        </a:p>
      </dgm:t>
    </dgm:pt>
    <dgm:pt modelId="{E045A6BE-D5B7-44B1-8609-C160AC8D5CD1}" type="pres">
      <dgm:prSet presAssocID="{917AED92-9A6F-46E1-88A0-97189F672D38}" presName="vert0" presStyleCnt="0">
        <dgm:presLayoutVars>
          <dgm:dir/>
          <dgm:animOne val="branch"/>
          <dgm:animLvl val="lvl"/>
        </dgm:presLayoutVars>
      </dgm:prSet>
      <dgm:spPr/>
    </dgm:pt>
    <dgm:pt modelId="{67A35920-7E5B-4011-B397-B364FB491A57}" type="pres">
      <dgm:prSet presAssocID="{5142AE8A-779C-479F-8D07-D26B8E7C2302}" presName="thickLine" presStyleLbl="alignNode1" presStyleIdx="0" presStyleCnt="2"/>
      <dgm:spPr/>
    </dgm:pt>
    <dgm:pt modelId="{DDD756C9-0A7E-499D-A469-0E9808BE0042}" type="pres">
      <dgm:prSet presAssocID="{5142AE8A-779C-479F-8D07-D26B8E7C2302}" presName="horz1" presStyleCnt="0"/>
      <dgm:spPr/>
    </dgm:pt>
    <dgm:pt modelId="{66BA3ECC-8661-4ABD-922B-6F5F20321923}" type="pres">
      <dgm:prSet presAssocID="{5142AE8A-779C-479F-8D07-D26B8E7C2302}" presName="tx1" presStyleLbl="revTx" presStyleIdx="0" presStyleCnt="2"/>
      <dgm:spPr/>
    </dgm:pt>
    <dgm:pt modelId="{E54D446E-E48D-4F7E-A114-7AB621EEE7C9}" type="pres">
      <dgm:prSet presAssocID="{5142AE8A-779C-479F-8D07-D26B8E7C2302}" presName="vert1" presStyleCnt="0"/>
      <dgm:spPr/>
    </dgm:pt>
    <dgm:pt modelId="{7E453F68-72EC-49F5-817B-D180F14594B8}" type="pres">
      <dgm:prSet presAssocID="{6CB7F03E-4B65-4845-9430-DDBE1C7BAD04}" presName="thickLine" presStyleLbl="alignNode1" presStyleIdx="1" presStyleCnt="2"/>
      <dgm:spPr/>
    </dgm:pt>
    <dgm:pt modelId="{39F73089-74FB-4B36-86E0-A9152422FC49}" type="pres">
      <dgm:prSet presAssocID="{6CB7F03E-4B65-4845-9430-DDBE1C7BAD04}" presName="horz1" presStyleCnt="0"/>
      <dgm:spPr/>
    </dgm:pt>
    <dgm:pt modelId="{39E5CE4F-DC78-4825-A054-D30B853A70FE}" type="pres">
      <dgm:prSet presAssocID="{6CB7F03E-4B65-4845-9430-DDBE1C7BAD04}" presName="tx1" presStyleLbl="revTx" presStyleIdx="1" presStyleCnt="2"/>
      <dgm:spPr/>
    </dgm:pt>
    <dgm:pt modelId="{F73F2741-BAB8-453E-8E2B-1337B8DB7C34}" type="pres">
      <dgm:prSet presAssocID="{6CB7F03E-4B65-4845-9430-DDBE1C7BAD04}" presName="vert1" presStyleCnt="0"/>
      <dgm:spPr/>
    </dgm:pt>
  </dgm:ptLst>
  <dgm:cxnLst>
    <dgm:cxn modelId="{03E36C1F-4EA3-4AD1-A1E8-38BB7325FFC3}" type="presOf" srcId="{917AED92-9A6F-46E1-88A0-97189F672D38}" destId="{E045A6BE-D5B7-44B1-8609-C160AC8D5CD1}" srcOrd="0" destOrd="0" presId="urn:microsoft.com/office/officeart/2008/layout/LinedList"/>
    <dgm:cxn modelId="{90239E6E-C289-4C8D-9759-601C57692E85}" srcId="{917AED92-9A6F-46E1-88A0-97189F672D38}" destId="{6CB7F03E-4B65-4845-9430-DDBE1C7BAD04}" srcOrd="1" destOrd="0" parTransId="{657B10DA-92DD-4335-A23E-3E80A6A9206F}" sibTransId="{50142E94-B63C-4C09-A0A3-A96BCC649A38}"/>
    <dgm:cxn modelId="{644B4885-E794-4DD3-9BFA-35E3D9BAB092}" type="presOf" srcId="{5142AE8A-779C-479F-8D07-D26B8E7C2302}" destId="{66BA3ECC-8661-4ABD-922B-6F5F20321923}" srcOrd="0" destOrd="0" presId="urn:microsoft.com/office/officeart/2008/layout/LinedList"/>
    <dgm:cxn modelId="{59D99BBE-48A3-48ED-B239-96EBE4C44202}" type="presOf" srcId="{6CB7F03E-4B65-4845-9430-DDBE1C7BAD04}" destId="{39E5CE4F-DC78-4825-A054-D30B853A70FE}" srcOrd="0" destOrd="0" presId="urn:microsoft.com/office/officeart/2008/layout/LinedList"/>
    <dgm:cxn modelId="{56F65FEA-462C-49CD-9CF4-93515945EE8C}" srcId="{917AED92-9A6F-46E1-88A0-97189F672D38}" destId="{5142AE8A-779C-479F-8D07-D26B8E7C2302}" srcOrd="0" destOrd="0" parTransId="{F7C5B0B4-4173-4141-8A0D-2D8A364C0CC2}" sibTransId="{F7938357-67AF-4971-8442-74E1DCA4065C}"/>
    <dgm:cxn modelId="{CDFED6F0-2EDD-4356-91A5-FC621AC39F6B}" type="presParOf" srcId="{E045A6BE-D5B7-44B1-8609-C160AC8D5CD1}" destId="{67A35920-7E5B-4011-B397-B364FB491A57}" srcOrd="0" destOrd="0" presId="urn:microsoft.com/office/officeart/2008/layout/LinedList"/>
    <dgm:cxn modelId="{FA4E239E-725A-441A-B01E-D78E6C6CC87D}" type="presParOf" srcId="{E045A6BE-D5B7-44B1-8609-C160AC8D5CD1}" destId="{DDD756C9-0A7E-499D-A469-0E9808BE0042}" srcOrd="1" destOrd="0" presId="urn:microsoft.com/office/officeart/2008/layout/LinedList"/>
    <dgm:cxn modelId="{47609B7D-9FD0-438D-953F-481953B9810D}" type="presParOf" srcId="{DDD756C9-0A7E-499D-A469-0E9808BE0042}" destId="{66BA3ECC-8661-4ABD-922B-6F5F20321923}" srcOrd="0" destOrd="0" presId="urn:microsoft.com/office/officeart/2008/layout/LinedList"/>
    <dgm:cxn modelId="{A2B9974B-09AC-49BF-AF2B-8F586D6E82DA}" type="presParOf" srcId="{DDD756C9-0A7E-499D-A469-0E9808BE0042}" destId="{E54D446E-E48D-4F7E-A114-7AB621EEE7C9}" srcOrd="1" destOrd="0" presId="urn:microsoft.com/office/officeart/2008/layout/LinedList"/>
    <dgm:cxn modelId="{D3532633-F757-4345-8C73-60635296FD52}" type="presParOf" srcId="{E045A6BE-D5B7-44B1-8609-C160AC8D5CD1}" destId="{7E453F68-72EC-49F5-817B-D180F14594B8}" srcOrd="2" destOrd="0" presId="urn:microsoft.com/office/officeart/2008/layout/LinedList"/>
    <dgm:cxn modelId="{6BA570B1-A0DF-46A6-A2C9-B2E6F0070919}" type="presParOf" srcId="{E045A6BE-D5B7-44B1-8609-C160AC8D5CD1}" destId="{39F73089-74FB-4B36-86E0-A9152422FC49}" srcOrd="3" destOrd="0" presId="urn:microsoft.com/office/officeart/2008/layout/LinedList"/>
    <dgm:cxn modelId="{2157FCB0-DA58-4697-AED9-520552AC1AC5}" type="presParOf" srcId="{39F73089-74FB-4B36-86E0-A9152422FC49}" destId="{39E5CE4F-DC78-4825-A054-D30B853A70FE}" srcOrd="0" destOrd="0" presId="urn:microsoft.com/office/officeart/2008/layout/LinedList"/>
    <dgm:cxn modelId="{74049779-C382-4693-93E4-87D8AB442953}" type="presParOf" srcId="{39F73089-74FB-4B36-86E0-A9152422FC49}" destId="{F73F2741-BAB8-453E-8E2B-1337B8DB7C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35920-7E5B-4011-B397-B364FB491A57}">
      <dsp:nvSpPr>
        <dsp:cNvPr id="0" name=""/>
        <dsp:cNvSpPr/>
      </dsp:nvSpPr>
      <dsp:spPr>
        <a:xfrm>
          <a:off x="0" y="0"/>
          <a:ext cx="600211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BA3ECC-8661-4ABD-922B-6F5F20321923}">
      <dsp:nvSpPr>
        <dsp:cNvPr id="0" name=""/>
        <dsp:cNvSpPr/>
      </dsp:nvSpPr>
      <dsp:spPr>
        <a:xfrm>
          <a:off x="0" y="0"/>
          <a:ext cx="6002110" cy="1864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Günümüzde yazılım sistemleri giderek daha karmaşık hale gelmiştir. Büyük ölçekli uygulamalar geliştirmek, sadece kod yazmayı değil; mimari tasarım, güvenlik, performans ve sürdürülebilirlik gibi birçok faktörü de dikkate almayı gerektirir. Bu noktada geliştiricilerin işini kolaylaştıran en önemli yapılardan biri </a:t>
          </a:r>
          <a:r>
            <a:rPr lang="tr-TR" sz="1800" b="1" kern="1200" dirty="0"/>
            <a:t>framework</a:t>
          </a:r>
          <a:r>
            <a:rPr lang="tr-TR" sz="1800" kern="1200" dirty="0"/>
            <a:t> kavramıdır.</a:t>
          </a:r>
          <a:endParaRPr lang="en-US" sz="1800" kern="1200" dirty="0"/>
        </a:p>
      </dsp:txBody>
      <dsp:txXfrm>
        <a:off x="0" y="0"/>
        <a:ext cx="6002110" cy="1864517"/>
      </dsp:txXfrm>
    </dsp:sp>
    <dsp:sp modelId="{7E453F68-72EC-49F5-817B-D180F14594B8}">
      <dsp:nvSpPr>
        <dsp:cNvPr id="0" name=""/>
        <dsp:cNvSpPr/>
      </dsp:nvSpPr>
      <dsp:spPr>
        <a:xfrm>
          <a:off x="0" y="1864517"/>
          <a:ext cx="600211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5CE4F-DC78-4825-A054-D30B853A70FE}">
      <dsp:nvSpPr>
        <dsp:cNvPr id="0" name=""/>
        <dsp:cNvSpPr/>
      </dsp:nvSpPr>
      <dsp:spPr>
        <a:xfrm>
          <a:off x="0" y="1864517"/>
          <a:ext cx="6002110" cy="1864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Framework’ler, yazılım geliştirme sürecini hızlandıran, belirli kurallar çerçevesinde çalışan ve geliştiriciye hazır bir yapı sunan sistemlerdir.</a:t>
          </a:r>
          <a:endParaRPr lang="en-US" sz="1800" kern="1200"/>
        </a:p>
      </dsp:txBody>
      <dsp:txXfrm>
        <a:off x="0" y="1864517"/>
        <a:ext cx="6002110" cy="1864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E3BC-E885-4D94-ACBF-56C3EE24780B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D9C1-267D-45F7-9B8F-F49441D344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3105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E3BC-E885-4D94-ACBF-56C3EE24780B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D9C1-267D-45F7-9B8F-F49441D344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6850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E3BC-E885-4D94-ACBF-56C3EE24780B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D9C1-267D-45F7-9B8F-F49441D344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066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E3BC-E885-4D94-ACBF-56C3EE24780B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D9C1-267D-45F7-9B8F-F49441D344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7800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E3BC-E885-4D94-ACBF-56C3EE24780B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D9C1-267D-45F7-9B8F-F49441D344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1194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E3BC-E885-4D94-ACBF-56C3EE24780B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D9C1-267D-45F7-9B8F-F49441D344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643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E3BC-E885-4D94-ACBF-56C3EE24780B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D9C1-267D-45F7-9B8F-F49441D344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7421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E3BC-E885-4D94-ACBF-56C3EE24780B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D9C1-267D-45F7-9B8F-F49441D344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87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E3BC-E885-4D94-ACBF-56C3EE24780B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D9C1-267D-45F7-9B8F-F49441D344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70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E3BC-E885-4D94-ACBF-56C3EE24780B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D9C1-267D-45F7-9B8F-F49441D344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309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E3BC-E885-4D94-ACBF-56C3EE24780B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D9C1-267D-45F7-9B8F-F49441D344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681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597E3BC-E885-4D94-ACBF-56C3EE24780B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10AD9C1-267D-45F7-9B8F-F49441D344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70173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66BE0F-8EAC-E1F5-4356-BCC2727BF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683"/>
            <a:ext cx="9144000" cy="2551829"/>
          </a:xfrm>
        </p:spPr>
        <p:txBody>
          <a:bodyPr anchor="ctr">
            <a:normAutofit/>
          </a:bodyPr>
          <a:lstStyle/>
          <a:p>
            <a:r>
              <a:rPr lang="tr-TR" sz="6600" dirty="0">
                <a:solidFill>
                  <a:srgbClr val="FF0000"/>
                </a:solidFill>
              </a:rPr>
              <a:t>FRAMEWORK NEDİR?</a:t>
            </a:r>
          </a:p>
        </p:txBody>
      </p:sp>
    </p:spTree>
    <p:extLst>
      <p:ext uri="{BB962C8B-B14F-4D97-AF65-F5344CB8AC3E}">
        <p14:creationId xmlns:p14="http://schemas.microsoft.com/office/powerpoint/2010/main" val="909420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C009F-37EC-DB83-17D8-D16621EBB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tr-TR" sz="4000" dirty="0">
                <a:solidFill>
                  <a:srgbClr val="FF0000"/>
                </a:solidFill>
              </a:rPr>
              <a:t>1. Giriş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F49C959-9349-250B-34D1-A430DC806D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66" r="24134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2C28F6-9466-2D69-F547-CDEC0AB292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4287728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156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91FBD-7200-E7B4-C8FE-889A83C5D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tr-TR" sz="5400" dirty="0">
                <a:solidFill>
                  <a:srgbClr val="FF0000"/>
                </a:solidFill>
              </a:rPr>
              <a:t>2. Framework Nedir?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99AEB2E-9F33-75F5-F066-3A5B481AE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tr-TR" sz="1900" dirty="0"/>
              <a:t>Framework, yazılım geliştirme sürecini kolaylaştırmak amacıyla oluşturulmuş; hazır kodlar, araçlar, kütüphaneler ve kurallar bütünüdür.</a:t>
            </a:r>
          </a:p>
          <a:p>
            <a:r>
              <a:rPr lang="tr-TR" sz="1900" b="1" dirty="0"/>
              <a:t>Basit Tanım:</a:t>
            </a:r>
          </a:p>
          <a:p>
            <a:r>
              <a:rPr lang="tr-TR" sz="1900" dirty="0"/>
              <a:t>Framework = Hazır sistem + Kurallar + Geliştirme altyapısı</a:t>
            </a:r>
          </a:p>
          <a:p>
            <a:r>
              <a:rPr lang="tr-TR" sz="1900" b="1" dirty="0"/>
              <a:t>Özellikleri:</a:t>
            </a:r>
          </a:p>
          <a:p>
            <a:r>
              <a:rPr lang="tr-TR" sz="1900" dirty="0"/>
              <a:t>Önceden yazılmış kod içerir</a:t>
            </a:r>
          </a:p>
          <a:p>
            <a:r>
              <a:rPr lang="tr-TR" sz="1900" dirty="0"/>
              <a:t>Belirli bir mimari yapıya sahiptir</a:t>
            </a:r>
          </a:p>
          <a:p>
            <a:r>
              <a:rPr lang="tr-TR" sz="1900" dirty="0"/>
              <a:t>Geliştiriciyi yönlendirir</a:t>
            </a:r>
          </a:p>
          <a:p>
            <a:r>
              <a:rPr lang="tr-TR" sz="1900" dirty="0"/>
              <a:t>Projeyi daha düzenli hale getirir</a:t>
            </a:r>
          </a:p>
          <a:p>
            <a:endParaRPr lang="tr-TR" sz="1900" dirty="0"/>
          </a:p>
        </p:txBody>
      </p:sp>
    </p:spTree>
    <p:extLst>
      <p:ext uri="{BB962C8B-B14F-4D97-AF65-F5344CB8AC3E}">
        <p14:creationId xmlns:p14="http://schemas.microsoft.com/office/powerpoint/2010/main" val="3570710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68CCC-ECAC-BA43-69C5-C66F0D608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34" y="1239927"/>
            <a:ext cx="3962400" cy="4680583"/>
          </a:xfrm>
        </p:spPr>
        <p:txBody>
          <a:bodyPr anchor="ctr">
            <a:normAutofit/>
          </a:bodyPr>
          <a:lstStyle/>
          <a:p>
            <a:r>
              <a:rPr lang="tr-TR" sz="5200" dirty="0">
                <a:solidFill>
                  <a:srgbClr val="FF0000"/>
                </a:solidFill>
              </a:rPr>
              <a:t>3. Framework Nasıl Çalışır?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1B10979-59AC-53C1-AACF-39449A859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33" y="305723"/>
            <a:ext cx="5952067" cy="592051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sz="2000" dirty="0"/>
              <a:t> Framework’ler genellikle "Inversion of Control (IoC)" yani "Kontrolün   Tersine Çevrilmesi" prensibi ile çalışır.</a:t>
            </a:r>
          </a:p>
          <a:p>
            <a:pPr marL="0" indent="0">
              <a:buNone/>
            </a:pPr>
            <a:r>
              <a:rPr lang="tr-TR" sz="2000" b="1" dirty="0"/>
              <a:t> Açıklama:</a:t>
            </a:r>
          </a:p>
          <a:p>
            <a:pPr marL="0" indent="0">
              <a:buNone/>
            </a:pPr>
            <a:r>
              <a:rPr lang="tr-TR" sz="2000" dirty="0"/>
              <a:t> Normalde geliştirici programı kontrol eder</a:t>
            </a:r>
          </a:p>
          <a:p>
            <a:pPr marL="0" indent="0">
              <a:buNone/>
            </a:pPr>
            <a:r>
              <a:rPr lang="tr-TR" sz="2000" dirty="0"/>
              <a:t> Framework kullanıldığında framework geliştiriciyi yönlendirir</a:t>
            </a:r>
          </a:p>
          <a:p>
            <a:pPr marL="0" indent="0">
              <a:buNone/>
            </a:pPr>
            <a:r>
              <a:rPr lang="tr-TR" sz="2000" dirty="0"/>
              <a:t>  Yani:</a:t>
            </a:r>
          </a:p>
          <a:p>
            <a:pPr marL="0" indent="0">
              <a:buNone/>
            </a:pPr>
            <a:r>
              <a:rPr lang="tr-TR" sz="2000" dirty="0"/>
              <a:t>  Sen framework’ü çağırmazsın, framework seni çağırır.</a:t>
            </a:r>
          </a:p>
          <a:p>
            <a:pPr marL="0" indent="0">
              <a:buNone/>
            </a:pPr>
            <a:r>
              <a:rPr lang="tr-TR" sz="2000" dirty="0"/>
              <a:t>  Bu sayede:</a:t>
            </a:r>
          </a:p>
          <a:p>
            <a:r>
              <a:rPr lang="tr-TR" sz="2000" dirty="0"/>
              <a:t>Kod standartlaşır</a:t>
            </a:r>
          </a:p>
          <a:p>
            <a:r>
              <a:rPr lang="tr-TR" sz="2000" dirty="0"/>
              <a:t>Hatalar azalır</a:t>
            </a:r>
          </a:p>
          <a:p>
            <a:r>
              <a:rPr lang="tr-TR" sz="2000" dirty="0"/>
              <a:t>Geliştirme süreci hızlanır</a:t>
            </a:r>
          </a:p>
          <a:p>
            <a:endParaRPr lang="tr-TR" sz="1700" dirty="0"/>
          </a:p>
        </p:txBody>
      </p:sp>
    </p:spTree>
    <p:extLst>
      <p:ext uri="{BB962C8B-B14F-4D97-AF65-F5344CB8AC3E}">
        <p14:creationId xmlns:p14="http://schemas.microsoft.com/office/powerpoint/2010/main" val="374603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D59B7-BF97-EEFD-F781-10B28F10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4" y="724138"/>
            <a:ext cx="8718281" cy="1299396"/>
          </a:xfrm>
        </p:spPr>
        <p:txBody>
          <a:bodyPr anchor="ctr">
            <a:normAutofit/>
          </a:bodyPr>
          <a:lstStyle/>
          <a:p>
            <a:r>
              <a:rPr lang="tr-TR" sz="6100" dirty="0">
                <a:solidFill>
                  <a:srgbClr val="FF0000"/>
                </a:solidFill>
              </a:rPr>
              <a:t>4. Framework’ün Önemi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9BA7A-B51E-C30E-A20F-5F76E4238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68" y="1828800"/>
            <a:ext cx="8564188" cy="4305061"/>
          </a:xfrm>
        </p:spPr>
        <p:txBody>
          <a:bodyPr anchor="t">
            <a:normAutofit/>
          </a:bodyPr>
          <a:lstStyle/>
          <a:p>
            <a:r>
              <a:rPr lang="tr-TR" sz="2000" dirty="0">
                <a:solidFill>
                  <a:srgbClr val="92D050"/>
                </a:solidFill>
              </a:rPr>
              <a:t>4.1 Zaman Tasarrufu</a:t>
            </a:r>
          </a:p>
          <a:p>
            <a:pPr marL="0" indent="0">
              <a:buNone/>
            </a:pPr>
            <a:r>
              <a:rPr lang="tr-TR" sz="2000" dirty="0"/>
              <a:t>Tekrar eden işlemler hazır olduğu için proje süresi ciddi şekilde azalır.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dirty="0"/>
              <a:t> </a:t>
            </a:r>
            <a:r>
              <a:rPr lang="fi-FI" sz="2000" dirty="0">
                <a:solidFill>
                  <a:srgbClr val="92D050"/>
                </a:solidFill>
              </a:rPr>
              <a:t>4.2 Kod Kalitesi ve Düzeni</a:t>
            </a:r>
            <a:endParaRPr lang="tr-TR" sz="2000" dirty="0">
              <a:solidFill>
                <a:srgbClr val="92D050"/>
              </a:solidFill>
            </a:endParaRPr>
          </a:p>
          <a:p>
            <a:r>
              <a:rPr lang="tr-TR" sz="2000" dirty="0"/>
              <a:t>Framework’ler belirli kurallar dayattığı için kod:</a:t>
            </a:r>
          </a:p>
          <a:p>
            <a:r>
              <a:rPr lang="tr-TR" sz="2000" dirty="0"/>
              <a:t>Daha okunabilir</a:t>
            </a:r>
          </a:p>
          <a:p>
            <a:r>
              <a:rPr lang="tr-TR" sz="2000" dirty="0"/>
              <a:t>Daha sürdürülebilir</a:t>
            </a:r>
          </a:p>
          <a:p>
            <a:r>
              <a:rPr lang="tr-TR" sz="2000" dirty="0"/>
              <a:t>Daha düzenli olur</a:t>
            </a:r>
          </a:p>
          <a:p>
            <a:pPr marL="0" indent="0">
              <a:buNone/>
            </a:pP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482683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E592A-4488-D84F-6514-5C9E559E5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1354666"/>
            <a:ext cx="10143668" cy="5782733"/>
          </a:xfrm>
        </p:spPr>
        <p:txBody>
          <a:bodyPr anchor="ctr">
            <a:normAutofit/>
          </a:bodyPr>
          <a:lstStyle/>
          <a:p>
            <a:endParaRPr lang="tr-TR" sz="1300" dirty="0"/>
          </a:p>
          <a:p>
            <a:r>
              <a:rPr lang="tr-TR" sz="2000" dirty="0">
                <a:solidFill>
                  <a:srgbClr val="92D050"/>
                </a:solidFill>
              </a:rPr>
              <a:t>4.3 Güvenlik</a:t>
            </a:r>
          </a:p>
          <a:p>
            <a:r>
              <a:rPr lang="tr-TR" sz="2000" dirty="0"/>
              <a:t>Birçok framework:</a:t>
            </a:r>
          </a:p>
          <a:p>
            <a:r>
              <a:rPr lang="tr-TR" sz="2000" dirty="0"/>
              <a:t>SQL Injection</a:t>
            </a:r>
          </a:p>
          <a:p>
            <a:r>
              <a:rPr lang="tr-TR" sz="2000" dirty="0"/>
              <a:t>XSS (Cross Site Scripting)</a:t>
            </a:r>
          </a:p>
          <a:p>
            <a:r>
              <a:rPr lang="tr-TR" sz="2000" dirty="0"/>
              <a:t>CSRF</a:t>
            </a:r>
          </a:p>
          <a:p>
            <a:r>
              <a:rPr lang="tr-TR" sz="2000" dirty="0"/>
              <a:t>Gibi saldırılara karşı hazır önlemler içerir.</a:t>
            </a:r>
          </a:p>
          <a:p>
            <a:r>
              <a:rPr lang="tr-TR" sz="2000" dirty="0">
                <a:solidFill>
                  <a:srgbClr val="92D050"/>
                </a:solidFill>
              </a:rPr>
              <a:t>4.4 Performans</a:t>
            </a:r>
          </a:p>
          <a:p>
            <a:r>
              <a:rPr lang="tr-TR" sz="2000" dirty="0"/>
              <a:t>Optimize edilmiş yapı sayesinde daha hızlı çalışan sistemler geliştirilebilir.</a:t>
            </a:r>
          </a:p>
          <a:p>
            <a:r>
              <a:rPr lang="tr-TR" sz="2000" dirty="0">
                <a:solidFill>
                  <a:srgbClr val="92D050"/>
                </a:solidFill>
              </a:rPr>
              <a:t>4.5 Ekip Çalışması</a:t>
            </a:r>
          </a:p>
          <a:p>
            <a:r>
              <a:rPr lang="tr-TR" sz="2000" dirty="0"/>
              <a:t>Framework sayesinde ekipteki herkes aynı yapı ile çalışır.</a:t>
            </a:r>
          </a:p>
          <a:p>
            <a:endParaRPr lang="tr-TR" sz="1300" dirty="0"/>
          </a:p>
        </p:txBody>
      </p:sp>
    </p:spTree>
    <p:extLst>
      <p:ext uri="{BB962C8B-B14F-4D97-AF65-F5344CB8AC3E}">
        <p14:creationId xmlns:p14="http://schemas.microsoft.com/office/powerpoint/2010/main" val="897850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344C3-DE87-666C-3A5A-17349240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623276"/>
            <a:ext cx="8648855" cy="1391792"/>
          </a:xfrm>
        </p:spPr>
        <p:txBody>
          <a:bodyPr anchor="ctr">
            <a:normAutofit fontScale="90000"/>
          </a:bodyPr>
          <a:lstStyle/>
          <a:p>
            <a:r>
              <a:rPr lang="tr-TR" sz="5000" dirty="0">
                <a:solidFill>
                  <a:srgbClr val="FF0000"/>
                </a:solidFill>
              </a:rPr>
              <a:t>5. Framework’ün İşletim Sistemlerindeki Önemi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A17CC-BDF6-21F2-0586-A00BCBD1C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4" y="2015068"/>
            <a:ext cx="10905053" cy="4216089"/>
          </a:xfrm>
        </p:spPr>
        <p:txBody>
          <a:bodyPr anchor="t">
            <a:normAutofit/>
          </a:bodyPr>
          <a:lstStyle/>
          <a:p>
            <a:r>
              <a:rPr lang="tr-TR" sz="1700" dirty="0"/>
              <a:t>İşletim sistemleri, donanım ile yazılım arasında köprü görevi görür. Framework’ler ise bu köprünün üstüne kurulan bir kolaylaştırıcı katmandır.</a:t>
            </a:r>
          </a:p>
          <a:p>
            <a:endParaRPr lang="tr-TR" sz="1700" dirty="0"/>
          </a:p>
          <a:p>
            <a:r>
              <a:rPr lang="tr-TR" sz="1700" dirty="0">
                <a:solidFill>
                  <a:srgbClr val="92D050"/>
                </a:solidFill>
              </a:rPr>
              <a:t>5.1 Donanım Soyutlama (Abstraction)</a:t>
            </a:r>
          </a:p>
          <a:p>
            <a:r>
              <a:rPr lang="tr-TR" sz="1700" dirty="0"/>
              <a:t>Framework’ler, donanımın karmaşık yapısını gizler.</a:t>
            </a:r>
          </a:p>
          <a:p>
            <a:r>
              <a:rPr lang="tr-TR" sz="1700" dirty="0"/>
              <a:t>Örnek:</a:t>
            </a:r>
          </a:p>
          <a:p>
            <a:r>
              <a:rPr lang="tr-TR" sz="1700" dirty="0"/>
              <a:t>Kamera kullanmak için donanım detaylarını bilmek gerekmez</a:t>
            </a:r>
          </a:p>
          <a:p>
            <a:r>
              <a:rPr lang="tr-TR" sz="1700" dirty="0"/>
              <a:t>Framework API sağlar</a:t>
            </a:r>
          </a:p>
          <a:p>
            <a:endParaRPr lang="tr-TR" sz="1700" dirty="0"/>
          </a:p>
        </p:txBody>
      </p:sp>
    </p:spTree>
    <p:extLst>
      <p:ext uri="{BB962C8B-B14F-4D97-AF65-F5344CB8AC3E}">
        <p14:creationId xmlns:p14="http://schemas.microsoft.com/office/powerpoint/2010/main" val="633450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24254-21A7-F93F-AFDE-33E8A8842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1727202"/>
            <a:ext cx="9941319" cy="4414978"/>
          </a:xfrm>
        </p:spPr>
        <p:txBody>
          <a:bodyPr anchor="ctr">
            <a:normAutofit/>
          </a:bodyPr>
          <a:lstStyle/>
          <a:p>
            <a:r>
              <a:rPr lang="tr-TR" sz="2000" dirty="0">
                <a:solidFill>
                  <a:srgbClr val="92D050"/>
                </a:solidFill>
              </a:rPr>
              <a:t>5.2 API Sağlama </a:t>
            </a:r>
          </a:p>
          <a:p>
            <a:r>
              <a:rPr lang="tr-TR" sz="2000" dirty="0"/>
              <a:t>İşletim sistemi framework’leri geliştiricilere hazır fonksiyonlar sunar.</a:t>
            </a:r>
          </a:p>
          <a:p>
            <a:r>
              <a:rPr lang="tr-TR" sz="2000" dirty="0"/>
              <a:t>Örnek:</a:t>
            </a:r>
          </a:p>
          <a:p>
            <a:r>
              <a:rPr lang="tr-TR" sz="2000" dirty="0"/>
              <a:t>Dosya okuma</a:t>
            </a:r>
          </a:p>
          <a:p>
            <a:r>
              <a:rPr lang="tr-TR" sz="2000" dirty="0"/>
              <a:t>Ağ işlemleri</a:t>
            </a:r>
          </a:p>
          <a:p>
            <a:r>
              <a:rPr lang="tr-TR" sz="2000" dirty="0"/>
              <a:t>Sensör kullanımı</a:t>
            </a:r>
          </a:p>
          <a:p>
            <a:r>
              <a:rPr lang="tr-TR" sz="2000" dirty="0">
                <a:solidFill>
                  <a:srgbClr val="92D050"/>
                </a:solidFill>
              </a:rPr>
              <a:t>5.3 Uygulama Geliştirme Kolaylığı</a:t>
            </a:r>
          </a:p>
          <a:p>
            <a:r>
              <a:rPr lang="tr-TR" sz="2000" dirty="0"/>
              <a:t>Mobil ve masaüstü uygulamalar framework’ler sayesinde hızlı geliştirilir.</a:t>
            </a:r>
          </a:p>
          <a:p>
            <a:r>
              <a:rPr lang="tr-TR" sz="2000" dirty="0"/>
              <a:t>Örnek:</a:t>
            </a:r>
          </a:p>
          <a:p>
            <a:r>
              <a:rPr lang="tr-TR" sz="2000" dirty="0"/>
              <a:t>Android uygulamaları → Android Framework ile geliştirilir</a:t>
            </a:r>
          </a:p>
          <a:p>
            <a:endParaRPr lang="tr-TR" sz="15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723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A21B4-EC50-024A-940A-8E3FD398F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 fontScale="55000" lnSpcReduction="20000"/>
          </a:bodyPr>
          <a:lstStyle/>
          <a:p>
            <a:endParaRPr lang="tr-TR" sz="1100" dirty="0"/>
          </a:p>
          <a:p>
            <a:r>
              <a:rPr lang="tr-TR" sz="2900" dirty="0">
                <a:solidFill>
                  <a:srgbClr val="92D050"/>
                </a:solidFill>
              </a:rPr>
              <a:t>5.4 Kaynak Yönetimi</a:t>
            </a:r>
          </a:p>
          <a:p>
            <a:r>
              <a:rPr lang="tr-TR" sz="2900" dirty="0"/>
              <a:t>Framework’ler:</a:t>
            </a:r>
          </a:p>
          <a:p>
            <a:r>
              <a:rPr lang="tr-TR" sz="2900" dirty="0"/>
              <a:t>Bellek (RAM)</a:t>
            </a:r>
          </a:p>
          <a:p>
            <a:r>
              <a:rPr lang="tr-TR" sz="2900" dirty="0"/>
              <a:t>CPU</a:t>
            </a:r>
          </a:p>
          <a:p>
            <a:r>
              <a:rPr lang="tr-TR" sz="2900" dirty="0"/>
              <a:t>Depolama</a:t>
            </a:r>
          </a:p>
          <a:p>
            <a:r>
              <a:rPr lang="tr-TR" sz="2900" dirty="0"/>
              <a:t>gibi kaynakların verimli kullanılmasını sağlar.</a:t>
            </a:r>
          </a:p>
          <a:p>
            <a:endParaRPr lang="tr-TR" sz="1100" dirty="0"/>
          </a:p>
          <a:p>
            <a:r>
              <a:rPr lang="tr-TR" sz="3600" dirty="0">
                <a:solidFill>
                  <a:srgbClr val="92D050"/>
                </a:solidFill>
              </a:rPr>
              <a:t>5.5 Sistem Güvenliği</a:t>
            </a:r>
          </a:p>
          <a:p>
            <a:r>
              <a:rPr lang="tr-TR" sz="3200" dirty="0"/>
              <a:t>İşletim sistemi framework’leri:</a:t>
            </a:r>
          </a:p>
          <a:p>
            <a:r>
              <a:rPr lang="tr-TR" sz="3200" dirty="0"/>
              <a:t>Uygulamalar arası izolasyon sağlar</a:t>
            </a:r>
          </a:p>
          <a:p>
            <a:r>
              <a:rPr lang="tr-TR" sz="3200" dirty="0"/>
              <a:t>Yetki kontrolü yapar</a:t>
            </a:r>
          </a:p>
          <a:p>
            <a:endParaRPr lang="tr-TR" sz="1100" dirty="0"/>
          </a:p>
          <a:p>
            <a:endParaRPr lang="tr-TR" sz="1100" dirty="0"/>
          </a:p>
        </p:txBody>
      </p:sp>
    </p:spTree>
    <p:extLst>
      <p:ext uri="{BB962C8B-B14F-4D97-AF65-F5344CB8AC3E}">
        <p14:creationId xmlns:p14="http://schemas.microsoft.com/office/powerpoint/2010/main" val="1202656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56C67-C684-F393-FF35-7D36EA948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-1"/>
            <a:ext cx="12191998" cy="1913467"/>
          </a:xfrm>
        </p:spPr>
        <p:txBody>
          <a:bodyPr anchor="b">
            <a:normAutofit/>
          </a:bodyPr>
          <a:lstStyle/>
          <a:p>
            <a:r>
              <a:rPr lang="tr-TR" sz="5400" dirty="0">
                <a:solidFill>
                  <a:srgbClr val="FF0000"/>
                </a:solidFill>
              </a:rPr>
              <a:t>6. Framework Türleri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91996-CA54-C199-7489-AC59CE085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03079"/>
            <a:ext cx="12192000" cy="4654921"/>
          </a:xfrm>
        </p:spPr>
        <p:txBody>
          <a:bodyPr anchor="ctr">
            <a:normAutofit/>
          </a:bodyPr>
          <a:lstStyle/>
          <a:p>
            <a:r>
              <a:rPr lang="tr-TR" sz="2000" dirty="0">
                <a:solidFill>
                  <a:srgbClr val="92D050"/>
                </a:solidFill>
              </a:rPr>
              <a:t>6.1 Web Frameworkleri</a:t>
            </a:r>
          </a:p>
          <a:p>
            <a:r>
              <a:rPr lang="tr-TR" sz="2000" dirty="0"/>
              <a:t>Web siteleri ve web uygulamaları geliştirmek için kullanılır.</a:t>
            </a:r>
          </a:p>
          <a:p>
            <a:r>
              <a:rPr lang="tr-TR" sz="2000" dirty="0"/>
              <a:t>Örnekler:</a:t>
            </a:r>
          </a:p>
          <a:p>
            <a:r>
              <a:rPr lang="tr-TR" sz="2000" dirty="0"/>
              <a:t>Django (Python)</a:t>
            </a:r>
          </a:p>
          <a:p>
            <a:r>
              <a:rPr lang="tr-TR" sz="2000" dirty="0"/>
              <a:t>Laravel (PHP)</a:t>
            </a:r>
          </a:p>
          <a:p>
            <a:r>
              <a:rPr lang="tr-TR" sz="2000" dirty="0"/>
              <a:t>Angular (JavaScript)</a:t>
            </a:r>
          </a:p>
          <a:p>
            <a:r>
              <a:rPr lang="tr-TR" sz="2000" dirty="0">
                <a:solidFill>
                  <a:srgbClr val="92D050"/>
                </a:solidFill>
              </a:rPr>
              <a:t>6.2 Mobil Frameworkler</a:t>
            </a:r>
          </a:p>
          <a:p>
            <a:r>
              <a:rPr lang="tr-TR" sz="2000" dirty="0"/>
              <a:t>Mobil uygulama geliştirmek için kullanılır.</a:t>
            </a:r>
          </a:p>
          <a:p>
            <a:r>
              <a:rPr lang="tr-TR" sz="2000" dirty="0"/>
              <a:t>Örnekler:</a:t>
            </a:r>
          </a:p>
          <a:p>
            <a:r>
              <a:rPr lang="tr-TR" sz="2000" dirty="0"/>
              <a:t>Flutter</a:t>
            </a:r>
          </a:p>
          <a:p>
            <a:r>
              <a:rPr lang="tr-TR" sz="2000" dirty="0"/>
              <a:t>React Native</a:t>
            </a:r>
          </a:p>
          <a:p>
            <a:endParaRPr lang="tr-TR" sz="1300" dirty="0"/>
          </a:p>
        </p:txBody>
      </p:sp>
    </p:spTree>
    <p:extLst>
      <p:ext uri="{BB962C8B-B14F-4D97-AF65-F5344CB8AC3E}">
        <p14:creationId xmlns:p14="http://schemas.microsoft.com/office/powerpoint/2010/main" val="3943061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A4BF2-60AE-8E24-FCFE-1A44C6A63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6" y="76201"/>
            <a:ext cx="10254822" cy="6409105"/>
          </a:xfrm>
        </p:spPr>
        <p:txBody>
          <a:bodyPr anchor="ctr">
            <a:normAutofit/>
          </a:bodyPr>
          <a:lstStyle/>
          <a:p>
            <a:endParaRPr lang="tr-TR" sz="600" dirty="0"/>
          </a:p>
          <a:p>
            <a:r>
              <a:rPr lang="tr-TR" sz="2000" dirty="0">
                <a:solidFill>
                  <a:srgbClr val="92D050"/>
                </a:solidFill>
              </a:rPr>
              <a:t>6.3 Masaüstü Frameworkler</a:t>
            </a:r>
          </a:p>
          <a:p>
            <a:r>
              <a:rPr lang="tr-TR" sz="2000" dirty="0"/>
              <a:t>Bilgisayar uygulamaları geliştirmek için kullanılır Örnekler:</a:t>
            </a:r>
          </a:p>
          <a:p>
            <a:r>
              <a:rPr lang="tr-TR" sz="2000" dirty="0"/>
              <a:t>.NET</a:t>
            </a:r>
          </a:p>
          <a:p>
            <a:r>
              <a:rPr lang="tr-TR" sz="2000" dirty="0"/>
              <a:t>Electron</a:t>
            </a:r>
          </a:p>
          <a:p>
            <a:r>
              <a:rPr lang="tr-TR" sz="2000" dirty="0">
                <a:solidFill>
                  <a:srgbClr val="92D050"/>
                </a:solidFill>
              </a:rPr>
              <a:t>6.4 Oyun Frameworkleri</a:t>
            </a:r>
          </a:p>
          <a:p>
            <a:r>
              <a:rPr lang="tr-TR" sz="2000" dirty="0"/>
              <a:t>Oyun geliştirme sürecini hızlandırır.</a:t>
            </a:r>
          </a:p>
          <a:p>
            <a:r>
              <a:rPr lang="tr-TR" sz="2000" dirty="0"/>
              <a:t>Örnekler:</a:t>
            </a:r>
          </a:p>
          <a:p>
            <a:r>
              <a:rPr lang="tr-TR" sz="2000" dirty="0"/>
              <a:t>Unity</a:t>
            </a:r>
          </a:p>
          <a:p>
            <a:r>
              <a:rPr lang="tr-TR" sz="2000" dirty="0"/>
              <a:t>Unreal Engine</a:t>
            </a:r>
          </a:p>
          <a:p>
            <a:r>
              <a:rPr lang="tr-TR" sz="2000" dirty="0">
                <a:solidFill>
                  <a:srgbClr val="92D050"/>
                </a:solidFill>
              </a:rPr>
              <a:t>6.5 Sistem (İşletim Sistemi) Frameworkleri</a:t>
            </a:r>
          </a:p>
          <a:p>
            <a:r>
              <a:rPr lang="tr-TR" sz="2000" dirty="0"/>
              <a:t>İşletim sistemine özel geliştirme araçlarıdır.</a:t>
            </a:r>
          </a:p>
          <a:p>
            <a:r>
              <a:rPr lang="tr-TR" sz="2000" dirty="0"/>
              <a:t>Örnekler:</a:t>
            </a:r>
          </a:p>
          <a:p>
            <a:r>
              <a:rPr lang="tr-TR" sz="2000" dirty="0"/>
              <a:t>Android Framework</a:t>
            </a:r>
          </a:p>
          <a:p>
            <a:r>
              <a:rPr lang="tr-TR" sz="2000" dirty="0"/>
              <a:t>.NET Framework</a:t>
            </a:r>
          </a:p>
          <a:p>
            <a:endParaRPr lang="tr-TR" sz="600" dirty="0"/>
          </a:p>
          <a:p>
            <a:endParaRPr lang="tr-TR" sz="600" dirty="0"/>
          </a:p>
          <a:p>
            <a:endParaRPr lang="tr-TR" sz="600" dirty="0"/>
          </a:p>
          <a:p>
            <a:endParaRPr lang="tr-TR" sz="6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020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61DC183-07AE-409A-AB63-34A0C77B6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1F091-1243-52FD-3F3D-22A99801C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46" y="349664"/>
            <a:ext cx="5845571" cy="1638377"/>
          </a:xfrm>
        </p:spPr>
        <p:txBody>
          <a:bodyPr anchor="b">
            <a:normAutofit/>
          </a:bodyPr>
          <a:lstStyle/>
          <a:p>
            <a:r>
              <a:rPr lang="tr-TR" sz="4100" dirty="0">
                <a:solidFill>
                  <a:srgbClr val="FF0000"/>
                </a:solidFill>
              </a:rPr>
              <a:t>7. Framework ve Kütüphane Arasındaki Fark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9B8AD-68FA-6D75-7C98-41F309CB9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88" y="2065867"/>
            <a:ext cx="8759212" cy="35784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tr-TR" sz="1300" dirty="0"/>
          </a:p>
          <a:p>
            <a:pPr marL="0" indent="0">
              <a:buNone/>
            </a:pPr>
            <a:endParaRPr lang="tr-TR" sz="1300" dirty="0"/>
          </a:p>
          <a:p>
            <a:pPr marL="0" indent="0">
              <a:buNone/>
            </a:pPr>
            <a:r>
              <a:rPr lang="tr-TR" sz="1300" u="sng" dirty="0"/>
              <a:t>  Özellik                                    Framework                                                Kütüphane  </a:t>
            </a:r>
          </a:p>
          <a:p>
            <a:pPr marL="0" indent="0">
              <a:buNone/>
            </a:pPr>
            <a:endParaRPr lang="tr-TR" sz="1300" u="sng" dirty="0"/>
          </a:p>
          <a:p>
            <a:pPr marL="0" indent="0">
              <a:buNone/>
            </a:pPr>
            <a:r>
              <a:rPr lang="tr-TR" sz="1300" dirty="0"/>
              <a:t>  Kontrol                          Framework kontrol eder                     Geliştirici kontrol eder</a:t>
            </a:r>
          </a:p>
          <a:p>
            <a:pPr marL="0" indent="0">
              <a:buNone/>
            </a:pPr>
            <a:endParaRPr lang="tr-TR" sz="1300" dirty="0"/>
          </a:p>
          <a:p>
            <a:pPr marL="0" indent="0">
              <a:buNone/>
            </a:pPr>
            <a:r>
              <a:rPr lang="tr-TR" sz="1300" dirty="0"/>
              <a:t>  Yapı                                    Katı kuralları vardır                               Daha esnektir </a:t>
            </a:r>
          </a:p>
          <a:p>
            <a:pPr marL="0" indent="0">
              <a:buNone/>
            </a:pPr>
            <a:endParaRPr lang="tr-TR" sz="1300" dirty="0"/>
          </a:p>
          <a:p>
            <a:pPr marL="0" indent="0">
              <a:buNone/>
            </a:pPr>
            <a:r>
              <a:rPr lang="tr-TR" sz="1300" dirty="0"/>
              <a:t>Kullanım                            Büyük projeler                                        Küçük İşlemler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669568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7" y="399675"/>
            <a:ext cx="4647368" cy="5809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774185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5A2C404-A0B6-DF56-A738-8BBC9B56F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996948"/>
              </p:ext>
            </p:extLst>
          </p:nvPr>
        </p:nvGraphicFramePr>
        <p:xfrm>
          <a:off x="9192209" y="2935832"/>
          <a:ext cx="693844" cy="737616"/>
        </p:xfrm>
        <a:graphic>
          <a:graphicData uri="http://schemas.openxmlformats.org/drawingml/2006/table">
            <a:tbl>
              <a:tblPr/>
              <a:tblGrid>
                <a:gridCol w="693844">
                  <a:extLst>
                    <a:ext uri="{9D8B030D-6E8A-4147-A177-3AD203B41FA5}">
                      <a16:colId xmlns:a16="http://schemas.microsoft.com/office/drawing/2014/main" val="1624748032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3300"/>
                        <a:t> 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125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6869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25F24-C62F-373B-D968-A853FC75C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4" y="623275"/>
            <a:ext cx="8718281" cy="1884901"/>
          </a:xfrm>
        </p:spPr>
        <p:txBody>
          <a:bodyPr anchor="ctr">
            <a:normAutofit/>
          </a:bodyPr>
          <a:lstStyle/>
          <a:p>
            <a:br>
              <a:rPr lang="tr-TR" sz="1800" b="1" dirty="0"/>
            </a:br>
            <a:r>
              <a:rPr lang="tr-TR" sz="2400" b="1" dirty="0">
                <a:solidFill>
                  <a:srgbClr val="FF0000"/>
                </a:solidFill>
              </a:rPr>
              <a:t>8. Framework Kullanmanın Dezavantajları</a:t>
            </a:r>
            <a:br>
              <a:rPr lang="tr-TR" sz="1800" b="1" dirty="0"/>
            </a:br>
            <a:br>
              <a:rPr lang="tr-TR" sz="1800" b="1" dirty="0"/>
            </a:br>
            <a:r>
              <a:rPr lang="tr-TR" sz="1800" dirty="0"/>
              <a:t>Her ne kadar avantajlı olsa da bazı dezavantajları vardır:</a:t>
            </a:r>
            <a:br>
              <a:rPr lang="tr-TR" sz="1800" dirty="0"/>
            </a:br>
            <a:endParaRPr lang="tr-TR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C9140-661B-9C37-E94A-D8DC16931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4" y="2743200"/>
            <a:ext cx="10905053" cy="3426669"/>
          </a:xfrm>
        </p:spPr>
        <p:txBody>
          <a:bodyPr anchor="t">
            <a:normAutofit/>
          </a:bodyPr>
          <a:lstStyle/>
          <a:p>
            <a:r>
              <a:rPr lang="tr-TR" sz="2000" b="1" dirty="0">
                <a:solidFill>
                  <a:srgbClr val="92D050"/>
                </a:solidFill>
              </a:rPr>
              <a:t>8.1 Öğrenme Zorluğu</a:t>
            </a:r>
          </a:p>
          <a:p>
            <a:r>
              <a:rPr lang="tr-TR" sz="2000" dirty="0"/>
              <a:t>Framework’ler başlangıçta karmaşık gelebilir.</a:t>
            </a:r>
          </a:p>
          <a:p>
            <a:r>
              <a:rPr lang="tr-TR" sz="2000" b="1" dirty="0">
                <a:solidFill>
                  <a:srgbClr val="92D050"/>
                </a:solidFill>
              </a:rPr>
              <a:t>8.2 Esneklik Kaybı</a:t>
            </a:r>
          </a:p>
          <a:p>
            <a:r>
              <a:rPr lang="tr-TR" sz="2000" dirty="0"/>
              <a:t>Belirli kurallar olduğu için özgürlük azalabilir.</a:t>
            </a:r>
          </a:p>
          <a:p>
            <a:r>
              <a:rPr lang="tr-TR" sz="2000" b="1" dirty="0">
                <a:solidFill>
                  <a:srgbClr val="92D050"/>
                </a:solidFill>
              </a:rPr>
              <a:t>8.3 Performans Yükü</a:t>
            </a:r>
          </a:p>
          <a:p>
            <a:r>
              <a:rPr lang="tr-TR" sz="2000" dirty="0"/>
              <a:t>Bazı durumlarda gereksiz kod yükü oluşturabilir.</a:t>
            </a:r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4195941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07552-C77C-1FD2-43D2-0E5A3AA88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01" y="0"/>
            <a:ext cx="10254822" cy="1794933"/>
          </a:xfrm>
        </p:spPr>
        <p:txBody>
          <a:bodyPr anchor="ctr">
            <a:normAutofit/>
          </a:bodyPr>
          <a:lstStyle/>
          <a:p>
            <a:r>
              <a:rPr lang="tr-TR" sz="4800" dirty="0">
                <a:solidFill>
                  <a:srgbClr val="FF0000"/>
                </a:solidFill>
              </a:rPr>
              <a:t>9. Gerçek Hayattan Örnekler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47AAC-6D17-C0A2-1CCE-D2FA36808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216597"/>
            <a:ext cx="11547565" cy="5158800"/>
          </a:xfrm>
        </p:spPr>
        <p:txBody>
          <a:bodyPr anchor="ctr">
            <a:normAutofit/>
          </a:bodyPr>
          <a:lstStyle/>
          <a:p>
            <a:r>
              <a:rPr lang="tr-TR" sz="2000" b="1" dirty="0">
                <a:solidFill>
                  <a:srgbClr val="92D050"/>
                </a:solidFill>
              </a:rPr>
              <a:t>Android</a:t>
            </a:r>
          </a:p>
          <a:p>
            <a:r>
              <a:rPr lang="tr-TR" sz="2200" dirty="0"/>
              <a:t>Android uygulamaları, Android Framework sayesinde:</a:t>
            </a:r>
          </a:p>
          <a:p>
            <a:r>
              <a:rPr lang="tr-TR" sz="2200" dirty="0"/>
              <a:t>Kamera</a:t>
            </a:r>
          </a:p>
          <a:p>
            <a:r>
              <a:rPr lang="tr-TR" sz="2200" dirty="0"/>
              <a:t>GPS</a:t>
            </a:r>
          </a:p>
          <a:p>
            <a:r>
              <a:rPr lang="tr-TR" sz="2200" dirty="0"/>
              <a:t>İnternet</a:t>
            </a:r>
          </a:p>
          <a:p>
            <a:r>
              <a:rPr lang="tr-TR" sz="2200" dirty="0"/>
              <a:t>gibi özellikleri kolayca kullanır.</a:t>
            </a:r>
          </a:p>
          <a:p>
            <a:r>
              <a:rPr lang="tr-TR" sz="2000" b="1" dirty="0">
                <a:solidFill>
                  <a:srgbClr val="92D050"/>
                </a:solidFill>
              </a:rPr>
              <a:t>Web Geliştirme</a:t>
            </a:r>
          </a:p>
          <a:p>
            <a:r>
              <a:rPr lang="tr-TR" sz="2000" dirty="0"/>
              <a:t>Bir e-ticaret sitesi geliştirirken:</a:t>
            </a:r>
          </a:p>
          <a:p>
            <a:r>
              <a:rPr lang="tr-TR" sz="2000" dirty="0"/>
              <a:t>Login sistemi</a:t>
            </a:r>
          </a:p>
          <a:p>
            <a:r>
              <a:rPr lang="tr-TR" sz="2000" dirty="0"/>
              <a:t>Veritabanı bağlantısı</a:t>
            </a:r>
          </a:p>
          <a:p>
            <a:r>
              <a:rPr lang="tr-TR" sz="2000" dirty="0"/>
              <a:t>Framework sayesinde hızlıca yapılır.</a:t>
            </a:r>
          </a:p>
          <a:p>
            <a:endParaRPr lang="tr-TR" sz="11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063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DB35-3C4F-F8EB-4655-9011D0FD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tr-TR" sz="4800" dirty="0">
                <a:solidFill>
                  <a:srgbClr val="FF0000"/>
                </a:solidFill>
              </a:rPr>
              <a:t>Framework Nereden İndirilir?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69F6F4-A6FA-8FD1-7D41-683BF7BFF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302935"/>
            <a:ext cx="9941319" cy="3810327"/>
          </a:xfrm>
        </p:spPr>
        <p:txBody>
          <a:bodyPr anchor="ctr">
            <a:normAutofit/>
          </a:bodyPr>
          <a:lstStyle/>
          <a:p>
            <a:r>
              <a:rPr lang="tr-TR" sz="1900" b="1" dirty="0">
                <a:solidFill>
                  <a:srgbClr val="00B050"/>
                </a:solidFill>
              </a:rPr>
              <a:t>Framework İndirme Yöntemleri</a:t>
            </a:r>
          </a:p>
          <a:p>
            <a:r>
              <a:rPr lang="tr-TR" sz="1900" dirty="0"/>
              <a:t>Resmi web sitelerinden indirilir </a:t>
            </a:r>
          </a:p>
          <a:p>
            <a:r>
              <a:rPr lang="tr-TR" sz="1900" dirty="0"/>
              <a:t>Paket yöneticileri kullanılır </a:t>
            </a:r>
          </a:p>
          <a:p>
            <a:r>
              <a:rPr lang="tr-TR" sz="1900" dirty="0"/>
              <a:t>Açık kaynak platformlardan alınabilir </a:t>
            </a:r>
          </a:p>
          <a:p>
            <a:r>
              <a:rPr lang="tr-TR" sz="1900" b="1" dirty="0">
                <a:solidFill>
                  <a:srgbClr val="00B050"/>
                </a:solidFill>
              </a:rPr>
              <a:t>🔹 Örnek Kaynaklar</a:t>
            </a:r>
          </a:p>
          <a:p>
            <a:r>
              <a:rPr lang="tr-TR" sz="1900" dirty="0"/>
              <a:t>Resmi siteler (Flutter, .NET, Django) </a:t>
            </a:r>
          </a:p>
          <a:p>
            <a:r>
              <a:rPr lang="tr-TR" sz="1900" dirty="0"/>
              <a:t>Paket yöneticileri (npm, pip, NuGet) </a:t>
            </a:r>
          </a:p>
          <a:p>
            <a:r>
              <a:rPr lang="tr-TR" sz="1900" dirty="0"/>
              <a:t>GitHub</a:t>
            </a:r>
          </a:p>
          <a:p>
            <a:endParaRPr lang="tr-TR" sz="19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07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027A4F-35CB-FE16-0BB1-C50EEA311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tr-TR" sz="5400" dirty="0">
                <a:solidFill>
                  <a:srgbClr val="FF0000"/>
                </a:solidFill>
              </a:rPr>
              <a:t>Framework Nasıl Kullanılır?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A3AE3-4DD2-DA1D-A333-D5FCCDB95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133599"/>
            <a:ext cx="10143668" cy="3901441"/>
          </a:xfrm>
        </p:spPr>
        <p:txBody>
          <a:bodyPr anchor="ctr">
            <a:normAutofit/>
          </a:bodyPr>
          <a:lstStyle/>
          <a:p>
            <a:r>
              <a:rPr lang="tr-TR" sz="2200" b="1" dirty="0">
                <a:solidFill>
                  <a:srgbClr val="00B050"/>
                </a:solidFill>
              </a:rPr>
              <a:t>Kullanım Mantığı</a:t>
            </a:r>
          </a:p>
          <a:p>
            <a:r>
              <a:rPr lang="tr-TR" sz="2200" dirty="0"/>
              <a:t>Framework geliştiriciye hazır yapı sunar </a:t>
            </a:r>
          </a:p>
          <a:p>
            <a:r>
              <a:rPr lang="tr-TR" sz="2200" dirty="0"/>
              <a:t>Belirli kurallar çerçevesinde çalışır </a:t>
            </a:r>
          </a:p>
          <a:p>
            <a:r>
              <a:rPr lang="tr-TR" sz="2200" b="1" dirty="0">
                <a:solidFill>
                  <a:srgbClr val="00B050"/>
                </a:solidFill>
              </a:rPr>
              <a:t>🔹 Kullanım Adımları</a:t>
            </a:r>
          </a:p>
          <a:p>
            <a:r>
              <a:rPr lang="tr-TR" sz="2200" dirty="0"/>
              <a:t>Framework kurulumu yapılır </a:t>
            </a:r>
          </a:p>
          <a:p>
            <a:r>
              <a:rPr lang="tr-TR" sz="2200" dirty="0"/>
              <a:t>Yeni proje oluşturulur </a:t>
            </a:r>
          </a:p>
          <a:p>
            <a:r>
              <a:rPr lang="tr-TR" sz="2200" dirty="0"/>
              <a:t>Hazır yapı (klasörler) oluşur </a:t>
            </a:r>
          </a:p>
          <a:p>
            <a:r>
              <a:rPr lang="tr-TR" sz="2200" dirty="0"/>
              <a:t>Kod yazılmaya başlanır</a:t>
            </a:r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79895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D100D-86D1-D388-2449-3AE84461E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tr-TR" sz="5400" dirty="0">
                <a:solidFill>
                  <a:srgbClr val="FF0000"/>
                </a:solidFill>
              </a:rPr>
              <a:t>Projeye Nasıl Entegre Edilir?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613FF-8708-042A-4F42-C22BF5CD1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587751"/>
            <a:ext cx="9849751" cy="3347330"/>
          </a:xfrm>
        </p:spPr>
        <p:txBody>
          <a:bodyPr anchor="ctr">
            <a:normAutofit/>
          </a:bodyPr>
          <a:lstStyle/>
          <a:p>
            <a:r>
              <a:rPr lang="tr-TR" sz="2000" b="1" dirty="0">
                <a:solidFill>
                  <a:srgbClr val="00B050"/>
                </a:solidFill>
              </a:rPr>
              <a:t>1. Sıfırdan Proje</a:t>
            </a:r>
          </a:p>
          <a:p>
            <a:r>
              <a:rPr lang="tr-TR" sz="2000" dirty="0"/>
              <a:t>Framework ile direkt proje başlatılır </a:t>
            </a:r>
          </a:p>
          <a:p>
            <a:r>
              <a:rPr lang="tr-TR" sz="2000" dirty="0"/>
              <a:t>Tüm yapı otomatik oluşur </a:t>
            </a:r>
          </a:p>
          <a:p>
            <a:r>
              <a:rPr lang="tr-TR" sz="2000" b="1" dirty="0"/>
              <a:t>🔹 </a:t>
            </a:r>
            <a:r>
              <a:rPr lang="tr-TR" sz="2000" b="1" dirty="0">
                <a:solidFill>
                  <a:srgbClr val="00B050"/>
                </a:solidFill>
              </a:rPr>
              <a:t>2. Mevcut Projeye Eklemek</a:t>
            </a:r>
          </a:p>
          <a:p>
            <a:r>
              <a:rPr lang="tr-TR" sz="2000" dirty="0"/>
              <a:t>Framework indirilir </a:t>
            </a:r>
          </a:p>
          <a:p>
            <a:r>
              <a:rPr lang="tr-TR" sz="2000" dirty="0"/>
              <a:t>Projeye eklenir </a:t>
            </a:r>
          </a:p>
          <a:p>
            <a:r>
              <a:rPr lang="tr-TR" sz="2000" dirty="0"/>
              <a:t>Kod içine dahil edilir (im</a:t>
            </a:r>
          </a:p>
          <a:p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1606260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81F4F-1E8F-8FCA-5E69-06120245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tr-TR" sz="5400" dirty="0">
                <a:solidFill>
                  <a:srgbClr val="FF0000"/>
                </a:solidFill>
              </a:rPr>
              <a:t>SONUÇ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21474-BE5E-96F5-0EB2-A9D4EC3A3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tr-TR" sz="2200" dirty="0"/>
              <a:t>Framework’ler, yazılım geliştirme sürecini hızlandıran ve kolaylaştıran önemli yapılardır.</a:t>
            </a:r>
            <a:br>
              <a:rPr lang="tr-TR" sz="2200" dirty="0"/>
            </a:br>
            <a:r>
              <a:rPr lang="tr-TR" sz="2200" dirty="0"/>
              <a:t>İşletim sistemleri ile birlikte çalışarak geliştiricilere güçlü ve güvenli bir ortam sunar.</a:t>
            </a:r>
            <a:br>
              <a:rPr lang="tr-TR" sz="2200" dirty="0"/>
            </a:br>
            <a:r>
              <a:rPr lang="tr-TR" sz="2200" dirty="0"/>
              <a:t>Günümüzde modern yazılım projelerinin vazgeçilmez bir parçası haline gelmiştir.</a:t>
            </a:r>
          </a:p>
          <a:p>
            <a:endParaRPr lang="tr-TR" sz="2200" dirty="0"/>
          </a:p>
          <a:p>
            <a:endParaRPr lang="tr-TR" sz="2200" dirty="0"/>
          </a:p>
          <a:p>
            <a:r>
              <a:rPr lang="tr-TR" sz="2200" dirty="0">
                <a:solidFill>
                  <a:srgbClr val="FF0000"/>
                </a:solidFill>
              </a:rPr>
              <a:t>DİNLEDİĞİNİZ İÇİN TEŞEKKÜR EDERİM </a:t>
            </a:r>
          </a:p>
        </p:txBody>
      </p:sp>
    </p:spTree>
    <p:extLst>
      <p:ext uri="{BB962C8B-B14F-4D97-AF65-F5344CB8AC3E}">
        <p14:creationId xmlns:p14="http://schemas.microsoft.com/office/powerpoint/2010/main" val="2774084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</TotalTime>
  <Words>753</Words>
  <Application>Microsoft Office PowerPoint</Application>
  <PresentationFormat>Widescreen</PresentationFormat>
  <Paragraphs>164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FRAMEWORK NEDİR?</vt:lpstr>
      <vt:lpstr>1. Giriş</vt:lpstr>
      <vt:lpstr>2. Framework Nedir?</vt:lpstr>
      <vt:lpstr>3. Framework Nasıl Çalışır?</vt:lpstr>
      <vt:lpstr>4. Framework’ün Önemi</vt:lpstr>
      <vt:lpstr>PowerPoint Presentation</vt:lpstr>
      <vt:lpstr>5. Framework’ün İşletim Sistemlerindeki Önemi</vt:lpstr>
      <vt:lpstr>PowerPoint Presentation</vt:lpstr>
      <vt:lpstr>PowerPoint Presentation</vt:lpstr>
      <vt:lpstr>6. Framework Türleri</vt:lpstr>
      <vt:lpstr>PowerPoint Presentation</vt:lpstr>
      <vt:lpstr>7. Framework ve Kütüphane Arasındaki Fark</vt:lpstr>
      <vt:lpstr> 8. Framework Kullanmanın Dezavantajları  Her ne kadar avantajlı olsa da bazı dezavantajları vardır: </vt:lpstr>
      <vt:lpstr>9. Gerçek Hayattan Örnekler</vt:lpstr>
      <vt:lpstr>Framework Nereden İndirilir?</vt:lpstr>
      <vt:lpstr>Framework Nasıl Kullanılır?</vt:lpstr>
      <vt:lpstr>Projeye Nasıl Entegre Edilir?</vt:lpstr>
      <vt:lpstr>SONUÇ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mervan dilli</dc:creator>
  <cp:lastModifiedBy>mervan dilli</cp:lastModifiedBy>
  <cp:revision>4</cp:revision>
  <dcterms:created xsi:type="dcterms:W3CDTF">2026-04-19T07:43:52Z</dcterms:created>
  <dcterms:modified xsi:type="dcterms:W3CDTF">2026-04-20T20:11:06Z</dcterms:modified>
</cp:coreProperties>
</file>